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373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team and the one-line idea: the 802.11 backoff rule forgets how crowded the channel is after every frame; CEAB measures the crowd and waits accordingly.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numbers are from our simulator, 10 seeds each. Emphasise that the problem grows with the number of stations, which is the trend in real deployments.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Gap: we need an estimate of contention that is model-free, passive, and independent of what backoff the other stations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Novelty: the inverse Simpson index from ecology has not been used for 802.11 backoff tuning as far as we found. Unlike Calì/Bianchi-Tinnirello, no model of the other stations; unlike Idle Sense, no fixed idle-slot target, so it does not starve next to legacy stations.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Left: each station = traffic source + queue + DCF state machine + strategy object. The channel engine decides success/collision/error and broadcasts idle gap and TA. Right: CEAB flowchart; estimation runs every busy period, window update on own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Validation: simulated BEB matches Bianchi's analytical throughput within 1.7 % for 2–100 stations, and an independent slot-by-slot Monte Carlo in the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that every scenario can be re-run live with demo.py by changing a flag or slider.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BEB vs CEAB differences in S1–S3 are significant (Welch p &lt; 0.01) except mean access delay at N = 50, which is fixed by the frame rate in saturation. S1 gain is small (+1.9 %) because BEB is already near-optimal with 5 stations; S2 +15.8 %.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upfront about the failure cases: this is what the rubric's critical-evaluation criterion looks for. Ablation: per-retry doubling (K = 1, 2) raised the tail delay, so K =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the demo offer: python demo.py gui — change N, load, error rate or access mode live and compare BEB with CEAB.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B9CFEE"/>
                </a:solidFill>
                <a:latin typeface="Calibri"/>
              </a:rPr>
              <a:t>BCSE308P COMPUTER NETWORKS LAB · INNOVATIVE EVALUATION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Contender-Estimation Adaptive Backoff</a:t>
            </a:r>
          </a:p>
          <a:p>
            <a:pPr algn="l">
              <a:spcAft>
                <a:spcPts val="1000"/>
              </a:spcAft>
            </a:pPr>
            <a:r>
              <a:rPr sz="2600" b="0" i="0">
                <a:solidFill>
                  <a:srgbClr val="B9CFEE"/>
                </a:solidFill>
                <a:latin typeface="Cambria"/>
              </a:rPr>
              <a:t>Teaching Wi-Fi stations how long to wait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A comparative study of nine CSMA/CA backoff strategies in IEEE 802.11, and a new scheme that sets the contention window from the number of stations it overhears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163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489204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SAHIL BARNWAL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30352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B9CFEE"/>
                </a:solidFill>
                <a:latin typeface="Calibri"/>
              </a:rPr>
              <a:t>24BDS0256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75488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163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489204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Ssunvya jain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530352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B9CFEE"/>
                </a:solidFill>
                <a:latin typeface="Calibri"/>
              </a:rPr>
              <a:t>23BCE0298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75488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163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489204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Rishika Singal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530352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B9CFEE"/>
                </a:solidFill>
                <a:latin typeface="Calibri"/>
              </a:rPr>
              <a:t>24BDS0233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7220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B9CFEE"/>
                </a:solidFill>
                <a:latin typeface="Calibri"/>
              </a:rPr>
              <a:t>School of Computer Science and Engineering · VIT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B1F3A"/>
                </a:solidFill>
                <a:latin typeface="Cambria"/>
              </a:rPr>
              <a:t>Crowded Wi-Fi loses a quarter of its capacity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</a:rPr>
              <a:t>Standard 802.11 binary exponential backoff (BEB), 50 saturated stations, 802.11g 54 Mb/s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EB6834"/>
                </a:solidFill>
                <a:latin typeface="Cambria"/>
              </a:rPr>
              <a:t>−25 %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throughput lost against the best backoff at N = 50 (22.3 vs 29.8 Mb/s)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96596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EB6834"/>
                </a:solidFill>
                <a:latin typeface="Cambria"/>
              </a:rPr>
              <a:t>0.59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probability that a transmission attempt collides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96596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EB6834"/>
                </a:solidFill>
                <a:latin typeface="Cambria"/>
              </a:rPr>
              <a:t>304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74320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99th-percentile access delay: one frame in a hundred waits a third of a second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39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Why it happens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53949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1A1A1A"/>
                </a:solidFill>
                <a:latin typeface="Calibri"/>
              </a:rPr>
              <a:t>After every success BEB resets the window to 16 slots, regardless of how many stations compete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1A1A1A"/>
                </a:solidFill>
                <a:latin typeface="Calibri"/>
              </a:rPr>
              <a:t>The next frame collides, doubles, collides again: contention is re-learned for every frame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1A1A1A"/>
                </a:solidFill>
                <a:latin typeface="Calibri"/>
              </a:rPr>
              <a:t>The winner keeps the smallest window and tends to win again (capture effect)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749039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206240"/>
            <a:ext cx="53035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1A1A1A"/>
                </a:solidFill>
                <a:latin typeface="Calibri"/>
              </a:rPr>
              <a:t>Lecture halls, hostels and IoT deployments put dozens of active stations on one access point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1A1A1A"/>
                </a:solidFill>
                <a:latin typeface="Calibri"/>
              </a:rPr>
              <a:t>Short-term fairness at N = 50 is only 0.40 (Jain index; 1.0 = perfectly fair)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1A1A1A"/>
                </a:solidFill>
                <a:latin typeface="Calibri"/>
              </a:rPr>
              <a:t>Tail delay, not the mean, is what breaks calls, games and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CEAB · BCSE308P Computer Networks Lab · Fall 2026-27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B1F3A"/>
                </a:solidFill>
                <a:latin typeface="Cambria"/>
              </a:rPr>
              <a:t>Existing waiting strategies either forget or assume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</a:rPr>
              <a:t>Baseline: IEEE 802.11 DCF with binary exponential backoff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B6834"/>
                </a:solidFill>
                <a:latin typeface="Cambria"/>
              </a:rPr>
              <a:t>Baseline: BEB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468880"/>
            <a:ext cx="411480" cy="41148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48716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Draw backoff b ~ U[0, W−1]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154680"/>
            <a:ext cx="411480" cy="41148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17296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Count down idle 9 µs slots, freeze while busy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840480"/>
            <a:ext cx="411480" cy="41148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85876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Transmit at b = 0; wait for the ACK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26280"/>
            <a:ext cx="411480" cy="41148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54456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No ACK → W ← min(2W, 1024), retry ≤ 7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212080"/>
            <a:ext cx="411480" cy="41148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23036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ACK → W ← 16 (forget everything)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737360"/>
            <a:ext cx="3520440" cy="43891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19202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History-based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3317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Linear · Fibonacci · Quadratic · MILD · EIED · Constant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834640"/>
            <a:ext cx="31089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Change W by a fixed rule after each outcome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Never learn how many stations compete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Linear/Fibonacci collide even more than BEB; MILD can lock at CWmax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737360"/>
            <a:ext cx="3474720" cy="438912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Estimation-based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3317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Calì et al. 2000 · Bianchi &amp; Tinnirello 2003 · Idle Sense 2005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834640"/>
            <a:ext cx="306324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Aim for the optimal window, but model the other stations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Model inversion is fragile: real counters are correlated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>
                <a:solidFill>
                  <a:srgbClr val="1A1A1A"/>
                </a:solidFill>
                <a:latin typeface="Calibri"/>
              </a:rPr>
              <a:t>Idle Sense next to legacy stations gets 0.9 Mb/s vs 27 Mb/s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CEAB · BCSE308P Computer Networks Lab · Fall 2026-27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B1F3A"/>
                </a:solidFill>
                <a:latin typeface="Cambria"/>
              </a:rPr>
              <a:t>CEAB counts who is talking, then waits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</a:rPr>
              <a:t>Contender-Estimation Adaptive Backoff: four steps, run independently by every station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Overhear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Log the sender address (TA) of the last M = 200 decoded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690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information every 802.11 header already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7830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611880" y="2011680"/>
            <a:ext cx="548640" cy="54864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9748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Estimate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15468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n_eff = M(M−1) / Σ c_j(c_j−1)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690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inverse Simpson index: equals n for n equal senders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46520" y="2011680"/>
            <a:ext cx="548640" cy="54864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Correct for 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5468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ρ = min(1, I* / I_obs);  n_c = ρ · n_eff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0690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long idle gaps → fewer backlogged stations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7830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281160" y="2011680"/>
            <a:ext cx="548640" cy="54864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69748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Set the 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15468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W* = 2 / τ*(n_c) − 1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40690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Calibri"/>
              </a:rPr>
              <a:t>τ* = throughput-optimal attempt probability (Bianchi)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What exactly differs from the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400"/>
              </a:spcAft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After success: </a:t>
            </a:r>
            <a:r>
              <a:rPr sz="1400" b="0">
                <a:solidFill>
                  <a:srgbClr val="1A1A1A"/>
                </a:solidFill>
                <a:latin typeface="Calibri"/>
              </a:rPr>
              <a:t>W stays at the optimum, never back to 16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After collision: </a:t>
            </a:r>
            <a:r>
              <a:rPr sz="1400" b="0">
                <a:solidFill>
                  <a:srgbClr val="1A1A1A"/>
                </a:solidFill>
                <a:latin typeface="Calibri"/>
              </a:rPr>
              <a:t>W unchanged (K = 0), not doubled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548640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400"/>
              </a:spcAft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Estimator: </a:t>
            </a:r>
            <a:r>
              <a:rPr sz="1400" b="0">
                <a:solidFill>
                  <a:srgbClr val="1A1A1A"/>
                </a:solidFill>
                <a:latin typeface="Calibri"/>
              </a:rPr>
              <a:t>model-free; valid whatever the others run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Same input for all: </a:t>
            </a:r>
            <a:r>
              <a:rPr sz="1400" b="0">
                <a:solidFill>
                  <a:srgbClr val="1A1A1A"/>
                </a:solidFill>
                <a:latin typeface="Calibri"/>
              </a:rPr>
              <a:t>all stations hold the same window → fairness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CEAB · BCSE308P Computer Networks Lab · Fall 2026-27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B1F3A"/>
                </a:solidFill>
                <a:latin typeface="Cambria"/>
              </a:rPr>
              <a:t>Architecture and algorithm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</a:rPr>
              <a:t>Event-driven 802.11 DCF simulator with pluggable backoff strategies</a:t>
            </a:r>
          </a:p>
        </p:txBody>
      </p:sp>
      <p:pic>
        <p:nvPicPr>
          <p:cNvPr id="4" name="Picture 3" descr="fig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035040" cy="3422961"/>
          </a:xfrm>
          <a:prstGeom prst="rect">
            <a:avLst/>
          </a:prstGeom>
        </p:spPr>
      </p:pic>
      <p:pic>
        <p:nvPicPr>
          <p:cNvPr id="5" name="Picture 4" descr="fig_flowchart_ce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600200"/>
            <a:ext cx="432920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57800"/>
            <a:ext cx="6035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Engine: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jumps straight to the next slot in which a backoff counter hits zero, so 2170 ten-second runs take about 6 minutes on 16 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CEAB · BCSE308P Computer Networks Lab · Fall 2026-27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B1F3A"/>
                </a:solidFill>
                <a:latin typeface="Cambria"/>
              </a:rPr>
              <a:t>Implementation setup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</a:rPr>
              <a:t>Python 3.14 · NumPy · SciPy · Matplotlib · 9 unit tests incl. Bianchi validation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57607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PHY</a:t>
                      </a:r>
                    </a:p>
                  </a:txBody>
                  <a:tcPr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802.11g ERP-OFDM, 54 Mb/s data, 24 Mb/s ACK</a:t>
                      </a:r>
                    </a:p>
                  </a:txBody>
                  <a:tcPr>
                    <a:solidFill>
                      <a:srgbClr val="E8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Slot / SIFS / DIFS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 / 10 / 28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Payload</a:t>
                      </a:r>
                    </a:p>
                  </a:txBody>
                  <a:tcPr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1500 B (256–2304 B sweep)</a:t>
                      </a:r>
                    </a:p>
                  </a:txBody>
                  <a:tcPr>
                    <a:solidFill>
                      <a:srgbClr val="E8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Ts / Tc (basic)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314 / 323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CWmin / CWmax / retries</a:t>
                      </a:r>
                    </a:p>
                  </a:txBody>
                  <a:tcPr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15 / 1023 / 7</a:t>
                      </a:r>
                    </a:p>
                  </a:txBody>
                  <a:tcPr>
                    <a:solidFill>
                      <a:srgbClr val="E8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Stations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 –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Traffic</a:t>
                      </a:r>
                    </a:p>
                  </a:txBody>
                  <a:tcPr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saturated, or Poisson 2 – 40 Mb/s</a:t>
                      </a:r>
                    </a:p>
                  </a:txBody>
                  <a:tcPr>
                    <a:solidFill>
                      <a:srgbClr val="E8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 seeds × 10 s, 1 s warm-up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CEAB</a:t>
                      </a:r>
                    </a:p>
                  </a:txBody>
                  <a:tcPr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 = 200, γ = 0.5, β = 0.05, K = 0</a:t>
                      </a:r>
                    </a:p>
                  </a:txBody>
                  <a:tcPr>
                    <a:solidFill>
                      <a:srgbClr val="E8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66560" y="1737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Code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224028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0" y="23317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A78D6"/>
                </a:solidFill>
                <a:latin typeface="Courier New"/>
              </a:rPr>
              <a:t>phy.py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3317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frame timing, Ts and Tc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78892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28803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A78D6"/>
                </a:solidFill>
                <a:latin typeface="Courier New"/>
              </a:rPr>
              <a:t>analytical.py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8803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Bianchi model, τ*(n)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333756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0" y="342900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A78D6"/>
                </a:solidFill>
                <a:latin typeface="Courier New"/>
              </a:rPr>
              <a:t>strategies.py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4290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9 strategies incl. CEAB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88620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0" y="3977639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A78D6"/>
                </a:solidFill>
                <a:latin typeface="Courier New"/>
              </a:rPr>
              <a:t>simulator.py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977639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event-driven DCF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443484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4526279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A78D6"/>
                </a:solidFill>
                <a:latin typeface="Courier New"/>
              </a:rPr>
              <a:t>experiments.py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526279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2170 parallel runs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498348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50749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A78D6"/>
                </a:solidFill>
                <a:latin typeface="Courier New"/>
              </a:rPr>
              <a:t>analysis.py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50749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mean ± SD, t-tests, plots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553212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9440" y="5623559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A78D6"/>
                </a:solidFill>
                <a:latin typeface="Courier New"/>
              </a:rPr>
              <a:t>demo.py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5623559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live CLI, trace, GUI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CEAB · BCSE308P Computer Networks Lab · Fall 2026-27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B1F3A"/>
                </a:solidFill>
                <a:latin typeface="Cambria"/>
              </a:rPr>
              <a:t>Scenarios and metrics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</a:rPr>
              <a:t>2170 independent simulation runs, every point = mean ± SD of 10 seeds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83080"/>
            <a:ext cx="411480" cy="4114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1051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S1 · S2 · S3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810512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saturated, N = 5 / 20 / 50 (low / medium / high)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04872"/>
            <a:ext cx="411480" cy="4114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32303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Station sweep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432303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N = 2 … 100, all nine strategies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26664"/>
            <a:ext cx="411480" cy="4114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54096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Offered 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054096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Poisson traffic, 30 stations, 2 – 40 Mb/s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48456"/>
            <a:ext cx="411480" cy="4114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7588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Robustness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67588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frame errors 0 – 30 %, RTS/CTS, payload 256 – 2304 B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270248"/>
            <a:ext cx="411480" cy="4114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2976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Churn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2976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5 → 50 → 15 stations during a run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892040"/>
            <a:ext cx="411480" cy="4114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91947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Coexistence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919472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10 legacy BEB + 10 new-scheme stations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513832"/>
            <a:ext cx="411480" cy="4114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54126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Ablation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5541264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CEAB escalation cap K and window 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1737360"/>
            <a:ext cx="5074920" cy="443484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19202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mbria"/>
              </a:rPr>
              <a:t>Metrics and why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42316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700"/>
              </a:spcAft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Throughput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capacity; what the optimal window maximises</a:t>
            </a:r>
          </a:p>
          <a:p>
            <a:pPr marL="228600" indent="-228600">
              <a:spcAft>
                <a:spcPts val="700"/>
              </a:spcAft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Collision probability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direct sign of a window that is too small</a:t>
            </a:r>
          </a:p>
          <a:p>
            <a:pPr marL="228600" indent="-228600">
              <a:spcAft>
                <a:spcPts val="700"/>
              </a:spcAft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99th-pct access delay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the tail is what real-time traffic feels</a:t>
            </a:r>
          </a:p>
          <a:p>
            <a:pPr marL="228600" indent="-228600">
              <a:spcAft>
                <a:spcPts val="700"/>
              </a:spcAft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Short-term Jain fairness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100 ms windows expose the capture effect</a:t>
            </a:r>
          </a:p>
          <a:p>
            <a:pPr marL="228600" indent="-228600">
              <a:spcAft>
                <a:spcPts val="700"/>
              </a:spcAft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Drop rate, end-to-end delay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losses and queueing seen by upper layers</a:t>
            </a:r>
          </a:p>
          <a:p>
            <a:pPr marL="228600" indent="-228600">
              <a:spcAft>
                <a:spcPts val="700"/>
              </a:spcAft>
              <a:buChar char="•"/>
            </a:pPr>
            <a:r>
              <a:rPr sz="1400" b="1">
                <a:solidFill>
                  <a:srgbClr val="1A1A1A"/>
                </a:solidFill>
                <a:latin typeface="Calibri"/>
              </a:rPr>
              <a:t>Welch t-test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is the difference real, not noise?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CEAB · BCSE308P Computer Networks Lab · Fall 2026-27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B1F3A"/>
                </a:solidFill>
                <a:latin typeface="Cambria"/>
              </a:rPr>
              <a:t>CEAB stays near capacity as the network grows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</a:rPr>
              <a:t>Saturation throughput, all nine strategies, N = 2 … 100 (10 runs per point)</a:t>
            </a:r>
          </a:p>
        </p:txBody>
      </p:sp>
      <p:pic>
        <p:nvPicPr>
          <p:cNvPr id="4" name="Picture 3" descr="fig_throughput_vs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7498079" cy="349966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69164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58200" y="187452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2A78D6"/>
                </a:solidFill>
                <a:latin typeface="Cambria"/>
              </a:rPr>
              <a:t>+33.5 %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265176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throughput at N = 50 (22.3 → 29.8 Mb/s), +57 % at N = 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29184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58200" y="347472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2A78D6"/>
                </a:solidFill>
                <a:latin typeface="Cambria"/>
              </a:rPr>
              <a:t>−79 %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425196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99th-pct delay at N = 50 (304 → 65 ms)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89204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507492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2A78D6"/>
                </a:solidFill>
                <a:latin typeface="Cambria"/>
              </a:rPr>
              <a:t>0.40 → 0.91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5852159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short-term fairness at N = 50; collisions 0.59 → 0.20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CEAB · BCSE308P Computer Networks Lab · Fall 2026-27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B1F3A"/>
                </a:solidFill>
                <a:latin typeface="Cambria"/>
              </a:rPr>
              <a:t>Where it helps, and where it does not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</a:rPr>
              <a:t>Dynamic membership trace (left) and critical evaluation (right)</a:t>
            </a:r>
          </a:p>
        </p:txBody>
      </p:sp>
      <p:pic>
        <p:nvPicPr>
          <p:cNvPr id="4" name="Picture 3" descr="fig_ch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5271699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35040" y="1645920"/>
            <a:ext cx="5623560" cy="214884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63640" y="17830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2A78D6"/>
                </a:solidFill>
                <a:latin typeface="Cambria"/>
              </a:rP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194560"/>
            <a:ext cx="5212080" cy="11336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400"/>
              </a:spcAft>
              <a:buChar char="•"/>
            </a:pPr>
            <a:r>
              <a:rPr sz="1300" b="0" dirty="0">
                <a:solidFill>
                  <a:srgbClr val="1A1A1A"/>
                </a:solidFill>
                <a:latin typeface="Calibri"/>
              </a:rPr>
              <a:t>Tracks 5 → 50 → 15 stations within ~0.1 s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300" b="0" dirty="0">
                <a:solidFill>
                  <a:srgbClr val="1A1A1A"/>
                </a:solidFill>
                <a:latin typeface="Calibri"/>
              </a:rPr>
              <a:t>Carries 29.9 Mb/s of Poisson traffic vs 24.4 for BEB; light-load delay unchanged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lang="en-IN" sz="1400" dirty="0"/>
              <a:t>Safe to adopt. Mixed with old standard stations, a CEAB device still gets more than it would in an all-standard network</a:t>
            </a:r>
            <a:r>
              <a:rPr sz="1300" b="0" dirty="0">
                <a:solidFill>
                  <a:srgbClr val="1A1A1A"/>
                </a:solidFill>
                <a:latin typeface="Calibri"/>
              </a:rPr>
              <a:t>(Idle Sense starves)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977639"/>
            <a:ext cx="5623560" cy="224028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4114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B6834"/>
                </a:solidFill>
                <a:latin typeface="Cambria"/>
              </a:rPr>
              <a:t>Limitations and failure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4526280"/>
            <a:ext cx="5212080" cy="12003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400"/>
              </a:spcAft>
              <a:buChar char="•"/>
            </a:pPr>
            <a:r>
              <a:rPr sz="1300" b="0" dirty="0">
                <a:solidFill>
                  <a:srgbClr val="1A1A1A"/>
                </a:solidFill>
                <a:latin typeface="Calibri"/>
              </a:rPr>
              <a:t>RTS/CTS, N = 5: no gain (-0.3 %) — collisions are cheap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lang="en-IN" sz="1400" dirty="0"/>
              <a:t>At 30% frame errors </a:t>
            </a:r>
            <a:r>
              <a:rPr sz="1300" b="0" dirty="0">
                <a:solidFill>
                  <a:srgbClr val="1A1A1A"/>
                </a:solidFill>
                <a:latin typeface="Calibri"/>
              </a:rPr>
              <a:t>gains vanish</a:t>
            </a:r>
            <a:endParaRPr lang="en-US" sz="1300" dirty="0">
              <a:solidFill>
                <a:srgbClr val="1A1A1A"/>
              </a:solidFill>
              <a:latin typeface="Calibri"/>
            </a:endParaRPr>
          </a:p>
          <a:p>
            <a:pPr marL="228600" indent="-228600">
              <a:spcAft>
                <a:spcPts val="400"/>
              </a:spcAft>
              <a:buChar char="•"/>
            </a:pPr>
            <a:r>
              <a:rPr sz="1300" b="0" dirty="0">
                <a:solidFill>
                  <a:srgbClr val="1A1A1A"/>
                </a:solidFill>
                <a:latin typeface="Calibri"/>
              </a:rPr>
              <a:t>Medium Poisson load: mean delay 0.94 vs 0.77 </a:t>
            </a:r>
            <a:r>
              <a:rPr sz="1300" b="0" dirty="0" err="1">
                <a:solidFill>
                  <a:srgbClr val="1A1A1A"/>
                </a:solidFill>
                <a:latin typeface="Calibri"/>
              </a:rPr>
              <a:t>ms</a:t>
            </a:r>
            <a:endParaRPr sz="1300" b="0" dirty="0">
              <a:solidFill>
                <a:srgbClr val="1A1A1A"/>
              </a:solidFill>
              <a:latin typeface="Calibri"/>
            </a:endParaRPr>
          </a:p>
          <a:p>
            <a:pPr marL="228600" indent="-228600">
              <a:spcAft>
                <a:spcPts val="400"/>
              </a:spcAft>
              <a:buChar char="•"/>
            </a:pPr>
            <a:r>
              <a:rPr sz="1300" b="0" dirty="0">
                <a:solidFill>
                  <a:srgbClr val="1A1A1A"/>
                </a:solidFill>
                <a:latin typeface="Calibri"/>
              </a:rPr>
              <a:t>Hidden terminals not modelled; </a:t>
            </a:r>
            <a:r>
              <a:rPr lang="en-IN" sz="1400" dirty="0"/>
              <a:t>old stations still keep a 2.6 to 1 share against CEAB stations.</a:t>
            </a:r>
            <a:endParaRPr sz="1300"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CEAB · BCSE308P Computer Networks Lab · Fall 2026-27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Conclusion, future work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486400" cy="16927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500" b="0" dirty="0">
                <a:solidFill>
                  <a:srgbClr val="FFFFFF"/>
                </a:solidFill>
                <a:latin typeface="Calibri"/>
              </a:rPr>
              <a:t>Waiting well = remembering how crowded the channel is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 dirty="0">
                <a:solidFill>
                  <a:srgbClr val="FFFFFF"/>
                </a:solidFill>
                <a:latin typeface="Calibri"/>
              </a:rPr>
              <a:t>CEAB: +16 % / +33 % throughput at N = 20 / 50, −79 % tail delay, fairness 0.91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 dirty="0">
                <a:solidFill>
                  <a:srgbClr val="FFFFFF"/>
                </a:solidFill>
                <a:latin typeface="Calibri"/>
              </a:rPr>
              <a:t>Within 2.5 % of the theoretical limit for 5 – 100 stations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lang="en-IN" sz="1500" dirty="0">
                <a:solidFill>
                  <a:srgbClr val="FFFFFF"/>
                </a:solidFill>
                <a:latin typeface="Calibri"/>
              </a:rPr>
              <a:t>Uses only information every Wi-Fi receiver already decodes, the sender address in each frame. </a:t>
            </a:r>
            <a:endParaRPr sz="15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5486400" cy="16158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600"/>
              </a:spcAft>
              <a:buChar char="•"/>
            </a:pPr>
            <a:r>
              <a:rPr sz="1500" b="0" dirty="0">
                <a:solidFill>
                  <a:srgbClr val="FFFFFF"/>
                </a:solidFill>
                <a:latin typeface="Calibri"/>
              </a:rPr>
              <a:t>Hidden terminals and multi-cell; airtime-aware estimate for multi-rate</a:t>
            </a:r>
            <a:endParaRPr lang="en-US" sz="1500" b="0" dirty="0">
              <a:solidFill>
                <a:srgbClr val="FFFFFF"/>
              </a:solidFill>
              <a:latin typeface="Calibri"/>
            </a:endParaRPr>
          </a:p>
          <a:p>
            <a:pPr marL="228600" indent="-228600">
              <a:spcAft>
                <a:spcPts val="600"/>
              </a:spcAft>
              <a:buChar char="•"/>
            </a:pPr>
            <a:r>
              <a:rPr lang="en-IN" sz="1500" dirty="0">
                <a:solidFill>
                  <a:srgbClr val="FFFFFF"/>
                </a:solidFill>
                <a:latin typeface="Calibri"/>
              </a:rPr>
              <a:t>Multi-speed networks, counting airtime instead of frames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lang="en-IN" sz="1500" dirty="0">
                <a:solidFill>
                  <a:srgbClr val="FFFFFF"/>
                </a:solidFill>
                <a:latin typeface="Calibri"/>
              </a:rPr>
              <a:t>Porting it to real open-source firmware for a hardware test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lang="en-IN" sz="1500" dirty="0">
                <a:solidFill>
                  <a:srgbClr val="FFFFFF"/>
                </a:solidFill>
                <a:latin typeface="Calibri"/>
              </a:rPr>
              <a:t>Large IoT networks with hundreds of devices, where the gains should be even larger</a:t>
            </a:r>
            <a:endParaRPr sz="15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0" y="1325880"/>
            <a:ext cx="5074920" cy="4892040"/>
          </a:xfrm>
          <a:prstGeom prst="roundRect">
            <a:avLst>
              <a:gd name="adj" fmla="val 6000"/>
            </a:avLst>
          </a:prstGeom>
          <a:solidFill>
            <a:srgbClr val="163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12280" y="1463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Key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96596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FEE"/>
                </a:solidFill>
                <a:latin typeface="Calibri"/>
              </a:rPr>
              <a:t>[1] IEEE Std 802.11-2020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FEE"/>
                </a:solidFill>
                <a:latin typeface="Calibri"/>
              </a:rPr>
              <a:t>[2] G. Bianchi, IEEE JSAC 18(3), 2000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FEE"/>
                </a:solidFill>
                <a:latin typeface="Calibri"/>
              </a:rPr>
              <a:t>[3] F. Calì et al., IEEE/ACM ToN 8(6), 2000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FEE"/>
                </a:solidFill>
                <a:latin typeface="Calibri"/>
              </a:rPr>
              <a:t>[4] V. Bharghavan et al., MACAW, SIGCOMM 1994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FEE"/>
                </a:solidFill>
                <a:latin typeface="Calibri"/>
              </a:rPr>
              <a:t>[5] N.-O. Song et al., EIED, IEEE VTC 2003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FEE"/>
                </a:solidFill>
                <a:latin typeface="Calibri"/>
              </a:rPr>
              <a:t>[6] M. Heusse et al., Idle Sense, SIGCOMM 2005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FEE"/>
                </a:solidFill>
                <a:latin typeface="Calibri"/>
              </a:rPr>
              <a:t>[7] G. Bianchi, I. Tinnirello, INFOCOM 2003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FEE"/>
                </a:solidFill>
                <a:latin typeface="Calibri"/>
              </a:rPr>
              <a:t>[16] E. H. Simpson, Nature 163, 1949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CFEE"/>
                </a:solidFill>
                <a:latin typeface="Calibri"/>
              </a:rPr>
              <a:t>Full IEEE-style list: project report, Ch.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9CFEE"/>
                </a:solidFill>
                <a:latin typeface="Calibri"/>
              </a:rPr>
              <a:t>CEAB · BCSE308P Computer Networks Lab · Fall 2026-27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B9CFE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1882</Words>
  <Application>Microsoft Office PowerPoint</Application>
  <PresentationFormat>Widescreen</PresentationFormat>
  <Paragraphs>211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rishikasinghal2006@gmail.com</cp:lastModifiedBy>
  <cp:revision>3</cp:revision>
  <dcterms:created xsi:type="dcterms:W3CDTF">2013-01-27T09:14:16Z</dcterms:created>
  <dcterms:modified xsi:type="dcterms:W3CDTF">2026-10-24T11:40:06Z</dcterms:modified>
  <cp:category/>
</cp:coreProperties>
</file>